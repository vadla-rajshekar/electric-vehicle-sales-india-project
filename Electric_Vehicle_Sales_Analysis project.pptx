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92B911-996E-4BD0-A2B7-B53CFF1BED67}" v="270" dt="2025-12-30T16:46:53.241"/>
    <p1510:client id="{99380F9E-3FED-4949-A6AF-4415048B1333}" v="76" dt="2025-12-30T13:15:56.770"/>
    <p1510:client id="{F1C8E3DC-BAEB-4957-9936-37B56A05AE7E}" v="99" dt="2025-12-30T13:28:46.4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The Rising Demand for Electric Vehicle in India: An Insurance perspective,  ETAuto">
            <a:extLst>
              <a:ext uri="{FF2B5EF4-FFF2-40B4-BE49-F238E27FC236}">
                <a16:creationId xmlns:a16="http://schemas.microsoft.com/office/drawing/2014/main" id="{566AFEFB-8CCE-C59B-372A-15445F6858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325550"/>
            <a:ext cx="10058400" cy="294130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5200">
                <a:solidFill>
                  <a:srgbClr val="FFFFFF"/>
                </a:solidFill>
                <a:latin typeface="Century Schoolbook"/>
                <a:ea typeface="Calibri"/>
                <a:cs typeface="Calibri"/>
              </a:rPr>
              <a:t>Electric Vehicle Sales by State in India</a:t>
            </a:r>
            <a:endParaRPr lang="en-US" sz="5200">
              <a:solidFill>
                <a:srgbClr val="FFFFFF"/>
              </a:solidFill>
              <a:latin typeface="Century Schoolbook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072043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2200">
                <a:solidFill>
                  <a:srgbClr val="FFFFFF"/>
                </a:solidFill>
                <a:latin typeface="Aptos Narrow"/>
              </a:rPr>
              <a:t>• Name: Vadla Rajashekar Chary</a:t>
            </a:r>
            <a:endParaRPr lang="en-US"/>
          </a:p>
          <a:p>
            <a:pPr algn="l"/>
            <a:r>
              <a:rPr lang="en-US" sz="2200">
                <a:solidFill>
                  <a:srgbClr val="FFFFFF"/>
                </a:solidFill>
                <a:latin typeface="Aptos Narrow"/>
              </a:rPr>
              <a:t>• Domain: Data Analyst / Machine Learning            </a:t>
            </a:r>
          </a:p>
          <a:p>
            <a:pPr algn="l"/>
            <a:r>
              <a:rPr lang="en-US" sz="2200">
                <a:solidFill>
                  <a:srgbClr val="FFFFFF"/>
                </a:solidFill>
                <a:latin typeface="Aptos Narrow"/>
              </a:rPr>
              <a:t>• Tools: Python, Pandas, Machine learning, Google Colab</a:t>
            </a:r>
          </a:p>
          <a:p>
            <a:endParaRPr lang="en-US" sz="2200">
              <a:solidFill>
                <a:srgbClr val="FFFFFF"/>
              </a:solidFill>
              <a:latin typeface="Aptos Narrow"/>
            </a:endParaRPr>
          </a:p>
          <a:p>
            <a:endParaRPr lang="en-US" sz="22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82F612-FEFD-B668-C398-6A5434B6D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4503AE-70CC-DD47-D4B9-CECF769879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The Rising Demand for Electric Vehicle in India: An Insurance perspective,  ETAuto">
            <a:extLst>
              <a:ext uri="{FF2B5EF4-FFF2-40B4-BE49-F238E27FC236}">
                <a16:creationId xmlns:a16="http://schemas.microsoft.com/office/drawing/2014/main" id="{DDB961C8-BC64-9D7C-EEBD-D89555AEAF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7AFE1B6-85CB-3BB0-8916-0109C27057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731B24-7FC2-1762-D106-A44A7421D9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7738" y="325550"/>
            <a:ext cx="5440497" cy="166518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3600">
                <a:solidFill>
                  <a:srgbClr val="FFFFFF"/>
                </a:solidFill>
                <a:latin typeface="Century Schoolbook"/>
                <a:ea typeface="Calibri"/>
                <a:cs typeface="Calibri"/>
              </a:rPr>
              <a:t>Problem Statement</a:t>
            </a:r>
          </a:p>
          <a:p>
            <a:endParaRPr lang="en-US" sz="5200">
              <a:solidFill>
                <a:srgbClr val="FFFFFF"/>
              </a:solidFill>
              <a:latin typeface="Century Schoolbook"/>
              <a:ea typeface="Calibri"/>
              <a:cs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EE8F6B-E5C1-6615-7DD8-20A3546966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9063" y="1593248"/>
            <a:ext cx="10058400" cy="473465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 algn="l"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ea typeface="+mn-lt"/>
                <a:cs typeface="+mn-lt"/>
              </a:rPr>
              <a:t>Electric Vehicles (EVs) are rapidly gaining importance in India due to environmental concerns and government policies.</a:t>
            </a:r>
            <a:endParaRPr lang="en-US"/>
          </a:p>
          <a:p>
            <a:pPr marL="285750" indent="-285750" algn="l"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ea typeface="+mn-lt"/>
                <a:cs typeface="+mn-lt"/>
              </a:rPr>
              <a:t>Understanding </a:t>
            </a:r>
            <a:r>
              <a:rPr lang="en-US" sz="2200" b="1">
                <a:solidFill>
                  <a:srgbClr val="FFFFFF"/>
                </a:solidFill>
                <a:ea typeface="+mn-lt"/>
                <a:cs typeface="+mn-lt"/>
              </a:rPr>
              <a:t>state-wise EV adoption trends</a:t>
            </a:r>
            <a:r>
              <a:rPr lang="en-US" sz="2200">
                <a:solidFill>
                  <a:srgbClr val="FFFFFF"/>
                </a:solidFill>
                <a:ea typeface="+mn-lt"/>
                <a:cs typeface="+mn-lt"/>
              </a:rPr>
              <a:t> is crucial for: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pPr algn="l"/>
            <a:r>
              <a:rPr lang="en-US" sz="2200">
                <a:solidFill>
                  <a:srgbClr val="FFFFFF"/>
                </a:solidFill>
                <a:ea typeface="+mn-lt"/>
                <a:cs typeface="+mn-lt"/>
              </a:rPr>
              <a:t>      -Policy makers</a:t>
            </a:r>
            <a:endParaRPr lang="en-US"/>
          </a:p>
          <a:p>
            <a:pPr algn="l"/>
            <a:r>
              <a:rPr lang="en-US" sz="2200">
                <a:solidFill>
                  <a:srgbClr val="FFFFFF"/>
                </a:solidFill>
                <a:ea typeface="+mn-lt"/>
                <a:cs typeface="+mn-lt"/>
              </a:rPr>
              <a:t>      -Manufacturers</a:t>
            </a:r>
            <a:endParaRPr lang="en-US"/>
          </a:p>
          <a:p>
            <a:pPr algn="l"/>
            <a:r>
              <a:rPr lang="en-US" sz="2200">
                <a:solidFill>
                  <a:srgbClr val="FFFFFF"/>
                </a:solidFill>
                <a:ea typeface="+mn-lt"/>
                <a:cs typeface="+mn-lt"/>
              </a:rPr>
              <a:t>      -Infrastructure planners</a:t>
            </a:r>
            <a:endParaRPr lang="en-US"/>
          </a:p>
          <a:p>
            <a:pPr marL="285750" indent="-285750" algn="l"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ea typeface="+mn-lt"/>
                <a:cs typeface="+mn-lt"/>
              </a:rPr>
              <a:t>However, EV sales data is complex and varies by:</a:t>
            </a:r>
            <a:endParaRPr lang="en-US">
              <a:ea typeface="+mn-lt"/>
              <a:cs typeface="+mn-lt"/>
            </a:endParaRPr>
          </a:p>
          <a:p>
            <a:pPr algn="l"/>
            <a:r>
              <a:rPr lang="en-US" sz="2200">
                <a:solidFill>
                  <a:srgbClr val="FFFFFF"/>
                </a:solidFill>
                <a:ea typeface="+mn-lt"/>
                <a:cs typeface="+mn-lt"/>
              </a:rPr>
              <a:t>      -State</a:t>
            </a:r>
            <a:endParaRPr lang="en-US"/>
          </a:p>
          <a:p>
            <a:pPr algn="l"/>
            <a:r>
              <a:rPr lang="en-US" sz="2200">
                <a:solidFill>
                  <a:srgbClr val="FFFFFF"/>
                </a:solidFill>
                <a:ea typeface="+mn-lt"/>
                <a:cs typeface="+mn-lt"/>
              </a:rPr>
              <a:t>      -Vehicle category</a:t>
            </a:r>
            <a:endParaRPr lang="en-US"/>
          </a:p>
          <a:p>
            <a:pPr algn="l"/>
            <a:r>
              <a:rPr lang="en-US" sz="2200">
                <a:solidFill>
                  <a:srgbClr val="FFFFFF"/>
                </a:solidFill>
                <a:ea typeface="+mn-lt"/>
                <a:cs typeface="+mn-lt"/>
              </a:rPr>
              <a:t>      -Time period</a:t>
            </a:r>
            <a:endParaRPr lang="en-US"/>
          </a:p>
          <a:p>
            <a:pPr algn="l"/>
            <a:endParaRPr lang="en-US" sz="2200">
              <a:solidFill>
                <a:srgbClr val="FFFFFF"/>
              </a:solidFill>
              <a:latin typeface="Aptos Narrow"/>
            </a:endParaRPr>
          </a:p>
          <a:p>
            <a:endParaRPr lang="en-US" sz="22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3109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E4B91E-2412-1749-EEE2-98996281B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F0F6AA-A302-C105-C06A-8E10A0A5EA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The Rising Demand for Electric Vehicle in India: An Insurance perspective,  ETAuto">
            <a:extLst>
              <a:ext uri="{FF2B5EF4-FFF2-40B4-BE49-F238E27FC236}">
                <a16:creationId xmlns:a16="http://schemas.microsoft.com/office/drawing/2014/main" id="{60EA0E60-D181-7EFF-D932-277A206B36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7FD2DE7-CECD-AC34-5E88-8B7D1EE026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5DE0B9-5560-8475-D2AC-FBDEA7D5A6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7738" y="325550"/>
            <a:ext cx="5440497" cy="166518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  <a:latin typeface="Century Schoolbook"/>
                <a:ea typeface="+mj-lt"/>
                <a:cs typeface="+mj-lt"/>
              </a:rPr>
              <a:t>Dataset Overview</a:t>
            </a:r>
            <a:endParaRPr lang="en-US" dirty="0"/>
          </a:p>
          <a:p>
            <a:endParaRPr lang="en-US" sz="5200">
              <a:solidFill>
                <a:srgbClr val="FFFFFF"/>
              </a:solidFill>
              <a:latin typeface="Century Schoolbook"/>
              <a:ea typeface="Calibri"/>
              <a:cs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796F20-2F64-ACE1-1BFB-3F7F3FC987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4340" y="1997200"/>
            <a:ext cx="10058400" cy="473465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 algn="l"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ea typeface="+mn-lt"/>
                <a:cs typeface="+mn-lt"/>
              </a:rPr>
              <a:t>Dataset Name: EV_Dataset.csv</a:t>
            </a:r>
            <a:endParaRPr lang="en-US"/>
          </a:p>
          <a:p>
            <a:pPr marL="285750" indent="-285750" algn="l">
              <a:buFont typeface="Arial"/>
              <a:buChar char="•"/>
            </a:pPr>
            <a:r>
              <a:rPr lang="en-US" sz="2200" dirty="0">
                <a:solidFill>
                  <a:srgbClr val="FFFFFF"/>
                </a:solidFill>
                <a:ea typeface="+mn-lt"/>
                <a:cs typeface="+mn-lt"/>
              </a:rPr>
              <a:t>Source: Clean Mobility Shift website</a:t>
            </a:r>
            <a:endParaRPr lang="en-US" dirty="0"/>
          </a:p>
          <a:p>
            <a:pPr marL="285750" indent="-285750" algn="l">
              <a:buFont typeface="Arial"/>
              <a:buChar char="•"/>
            </a:pPr>
            <a:r>
              <a:rPr lang="en-US" sz="2200" dirty="0">
                <a:solidFill>
                  <a:srgbClr val="FFFFFF"/>
                </a:solidFill>
                <a:ea typeface="+mn-lt"/>
                <a:cs typeface="+mn-lt"/>
              </a:rPr>
              <a:t>Format: CSV</a:t>
            </a:r>
            <a:endParaRPr lang="en-US" dirty="0"/>
          </a:p>
          <a:p>
            <a:pPr marL="285750" indent="-285750" algn="l">
              <a:buFont typeface="Arial"/>
              <a:buChar char="•"/>
            </a:pPr>
            <a:r>
              <a:rPr lang="en-US" sz="2200" dirty="0">
                <a:solidFill>
                  <a:srgbClr val="FFFFFF"/>
                </a:solidFill>
                <a:ea typeface="+mn-lt"/>
                <a:cs typeface="+mn-lt"/>
              </a:rPr>
              <a:t>Records: 96,845 rows</a:t>
            </a:r>
            <a:endParaRPr lang="en-US" dirty="0"/>
          </a:p>
          <a:p>
            <a:pPr marL="285750" indent="-285750" algn="l">
              <a:buFont typeface="Arial"/>
              <a:buChar char="•"/>
            </a:pPr>
            <a:r>
              <a:rPr lang="en-US" sz="2200" dirty="0">
                <a:solidFill>
                  <a:srgbClr val="FFFFFF"/>
                </a:solidFill>
                <a:ea typeface="+mn-lt"/>
                <a:cs typeface="+mn-lt"/>
              </a:rPr>
              <a:t>Features: 8 columns</a:t>
            </a:r>
            <a:endParaRPr lang="en-US" dirty="0"/>
          </a:p>
          <a:p>
            <a:pPr marL="285750" indent="-285750" algn="l">
              <a:buFont typeface="Arial"/>
              <a:buChar char="•"/>
            </a:pPr>
            <a:endParaRPr lang="en-US" sz="2200" dirty="0">
              <a:solidFill>
                <a:srgbClr val="FFFFFF"/>
              </a:solidFill>
            </a:endParaRPr>
          </a:p>
          <a:p>
            <a:pPr algn="l"/>
            <a:endParaRPr lang="en-US" sz="2200">
              <a:solidFill>
                <a:srgbClr val="FFFFFF"/>
              </a:solidFill>
              <a:latin typeface="Aptos Narrow"/>
            </a:endParaRPr>
          </a:p>
          <a:p>
            <a:endParaRPr lang="en-US" sz="22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1071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3EFBA8-25F5-A2AE-476D-7E908772E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567BEB5-EB64-EE1C-D7AA-94F72F9FD7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The Rising Demand for Electric Vehicle in India: An Insurance perspective,  ETAuto">
            <a:extLst>
              <a:ext uri="{FF2B5EF4-FFF2-40B4-BE49-F238E27FC236}">
                <a16:creationId xmlns:a16="http://schemas.microsoft.com/office/drawing/2014/main" id="{880EE253-696E-7986-2DF1-99BB553CF7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F46BE03-A8AD-3BA7-5B1A-73226E381B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9E6150-1A97-0588-9962-3119949B83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4798" y="426538"/>
            <a:ext cx="7148111" cy="166518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  <a:latin typeface="Century Schoolbook"/>
                <a:ea typeface="+mj-lt"/>
                <a:cs typeface="+mj-lt"/>
              </a:rPr>
              <a:t>Data Cleaning &amp; Preprocessing</a:t>
            </a:r>
            <a:endParaRPr lang="en-US" sz="3600"/>
          </a:p>
          <a:p>
            <a:endParaRPr lang="en-US" sz="5200">
              <a:solidFill>
                <a:srgbClr val="FFFFFF"/>
              </a:solidFill>
              <a:latin typeface="Century Schoolbook"/>
              <a:ea typeface="Calibri"/>
              <a:cs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2AD4E8-470D-A6E8-044B-505D3E0735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9882" y="1712598"/>
            <a:ext cx="10058400" cy="473465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r>
              <a:rPr lang="en-US" sz="2200">
                <a:solidFill>
                  <a:srgbClr val="FFFFFF"/>
                </a:solidFill>
              </a:rPr>
              <a:t>Data Cleaning Steps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 algn="l">
              <a:buFont typeface="Arial"/>
              <a:buChar char="•"/>
            </a:pPr>
            <a:r>
              <a:rPr lang="en-US" sz="2200" dirty="0">
                <a:solidFill>
                  <a:srgbClr val="FFFFFF"/>
                </a:solidFill>
                <a:ea typeface="+mn-lt"/>
                <a:cs typeface="+mn-lt"/>
              </a:rPr>
              <a:t>Verified dataset structure and column names</a:t>
            </a:r>
            <a:endParaRPr lang="en-US" sz="2200" dirty="0">
              <a:solidFill>
                <a:srgbClr val="FFFFFF"/>
              </a:solidFill>
            </a:endParaRPr>
          </a:p>
          <a:p>
            <a:pPr marL="285750" indent="-285750" algn="l"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ea typeface="+mn-lt"/>
                <a:cs typeface="+mn-lt"/>
              </a:rPr>
              <a:t>Checked for:</a:t>
            </a:r>
            <a:endParaRPr lang="en-US" sz="2200">
              <a:solidFill>
                <a:srgbClr val="FFFFFF"/>
              </a:solidFill>
            </a:endParaRPr>
          </a:p>
          <a:p>
            <a:pPr algn="l"/>
            <a:r>
              <a:rPr lang="en-US" sz="2200" dirty="0">
                <a:solidFill>
                  <a:srgbClr val="FFFFFF"/>
                </a:solidFill>
                <a:ea typeface="+mn-lt"/>
                <a:cs typeface="+mn-lt"/>
              </a:rPr>
              <a:t>       -Missing values</a:t>
            </a:r>
            <a:endParaRPr lang="en-US" sz="2200" dirty="0">
              <a:solidFill>
                <a:srgbClr val="FFFFFF"/>
              </a:solidFill>
            </a:endParaRPr>
          </a:p>
          <a:p>
            <a:pPr algn="l"/>
            <a:r>
              <a:rPr lang="en-US" sz="2200" dirty="0">
                <a:solidFill>
                  <a:srgbClr val="FFFFFF"/>
                </a:solidFill>
                <a:ea typeface="+mn-lt"/>
                <a:cs typeface="+mn-lt"/>
              </a:rPr>
              <a:t>       -Duplicate records</a:t>
            </a:r>
            <a:endParaRPr lang="en-US" sz="2200" dirty="0">
              <a:solidFill>
                <a:srgbClr val="FFFFFF"/>
              </a:solidFill>
            </a:endParaRPr>
          </a:p>
          <a:p>
            <a:pPr marL="285750" indent="-285750" algn="l">
              <a:buFont typeface="Arial"/>
              <a:buChar char="•"/>
            </a:pPr>
            <a:r>
              <a:rPr lang="en-US" sz="2200" dirty="0">
                <a:solidFill>
                  <a:srgbClr val="FFFFFF"/>
                </a:solidFill>
                <a:ea typeface="+mn-lt"/>
                <a:cs typeface="+mn-lt"/>
              </a:rPr>
              <a:t>Converted data types:</a:t>
            </a:r>
            <a:endParaRPr lang="en-US" sz="2200" dirty="0">
              <a:solidFill>
                <a:srgbClr val="FFFFFF"/>
              </a:solidFill>
            </a:endParaRPr>
          </a:p>
          <a:p>
            <a:pPr algn="l"/>
            <a:r>
              <a:rPr lang="en-US" sz="2200" dirty="0">
                <a:solidFill>
                  <a:srgbClr val="FFFFFF"/>
                </a:solidFill>
                <a:ea typeface="+mn-lt"/>
                <a:cs typeface="+mn-lt"/>
              </a:rPr>
              <a:t>       -Year → Integer</a:t>
            </a:r>
            <a:endParaRPr lang="en-US" sz="2200" dirty="0">
              <a:solidFill>
                <a:srgbClr val="FFFFFF"/>
              </a:solidFill>
            </a:endParaRPr>
          </a:p>
          <a:p>
            <a:pPr algn="l"/>
            <a:r>
              <a:rPr lang="en-US" sz="2200" dirty="0">
                <a:solidFill>
                  <a:srgbClr val="FFFFFF"/>
                </a:solidFill>
                <a:ea typeface="+mn-lt"/>
                <a:cs typeface="+mn-lt"/>
              </a:rPr>
              <a:t>       -Date → </a:t>
            </a:r>
            <a:r>
              <a:rPr lang="en-US" sz="2200" dirty="0" err="1">
                <a:solidFill>
                  <a:srgbClr val="FFFFFF"/>
                </a:solidFill>
                <a:ea typeface="+mn-lt"/>
                <a:cs typeface="+mn-lt"/>
              </a:rPr>
              <a:t>DateTime</a:t>
            </a:r>
            <a:endParaRPr lang="en-US" sz="2200">
              <a:solidFill>
                <a:srgbClr val="FFFFFF"/>
              </a:solidFill>
            </a:endParaRPr>
          </a:p>
          <a:p>
            <a:pPr marL="285750" indent="-285750" algn="l">
              <a:buFont typeface="Arial"/>
              <a:buChar char="•"/>
            </a:pPr>
            <a:r>
              <a:rPr lang="en-US" sz="2200" dirty="0">
                <a:solidFill>
                  <a:srgbClr val="FFFFFF"/>
                </a:solidFill>
                <a:ea typeface="+mn-lt"/>
                <a:cs typeface="+mn-lt"/>
              </a:rPr>
              <a:t>Converted categorical columns for analysis</a:t>
            </a:r>
            <a:endParaRPr lang="en-US" sz="2200" dirty="0">
              <a:solidFill>
                <a:srgbClr val="FFFFFF"/>
              </a:solidFill>
            </a:endParaRPr>
          </a:p>
          <a:p>
            <a:pPr marL="285750" indent="-285750" algn="l">
              <a:buFont typeface="Arial"/>
              <a:buChar char="•"/>
            </a:pPr>
            <a:endParaRPr lang="en-US" sz="2200" dirty="0">
              <a:solidFill>
                <a:srgbClr val="FFFFFF"/>
              </a:solidFill>
            </a:endParaRPr>
          </a:p>
          <a:p>
            <a:pPr marL="285750" indent="-285750" algn="l">
              <a:buFont typeface="Arial"/>
              <a:buChar char="•"/>
            </a:pPr>
            <a:endParaRPr lang="en-US" sz="2200" dirty="0">
              <a:solidFill>
                <a:srgbClr val="FFFFFF"/>
              </a:solidFill>
            </a:endParaRPr>
          </a:p>
          <a:p>
            <a:pPr algn="l"/>
            <a:endParaRPr lang="en-US" sz="2200">
              <a:solidFill>
                <a:srgbClr val="FFFFFF"/>
              </a:solidFill>
              <a:latin typeface="Aptos Narrow"/>
            </a:endParaRPr>
          </a:p>
          <a:p>
            <a:endParaRPr lang="en-US" sz="2200">
              <a:solidFill>
                <a:srgbClr val="FFFFFF"/>
              </a:solidFill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748538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56B714-E604-F002-9913-58173BA40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56049BA-73DC-D2A4-4CD2-03367C59AD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The Rising Demand for Electric Vehicle in India: An Insurance perspective,  ETAuto">
            <a:extLst>
              <a:ext uri="{FF2B5EF4-FFF2-40B4-BE49-F238E27FC236}">
                <a16:creationId xmlns:a16="http://schemas.microsoft.com/office/drawing/2014/main" id="{52F7EAEC-651A-222B-1628-536999CD10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7969DD7-E547-0768-B263-E3C90DC662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4BCE5B-F0F5-93D7-CCA6-DEF58EDED4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6268" y="389815"/>
            <a:ext cx="8029460" cy="93073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  <a:latin typeface="Century Schoolbook"/>
                <a:ea typeface="+mj-lt"/>
                <a:cs typeface="+mj-lt"/>
              </a:rPr>
              <a:t>Exploratory Data Analysis (EDA)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BBF715-673A-D81E-B965-4436EC7038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9882" y="1712598"/>
            <a:ext cx="10058400" cy="473465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r>
              <a:rPr lang="en-US" sz="2200" dirty="0">
                <a:solidFill>
                  <a:srgbClr val="FFFFFF"/>
                </a:solidFill>
              </a:rPr>
              <a:t>EDA Objectives</a:t>
            </a:r>
            <a:endParaRPr lang="en-US" dirty="0"/>
          </a:p>
          <a:p>
            <a:pPr algn="l"/>
            <a:r>
              <a:rPr lang="en-US" sz="2200" dirty="0">
                <a:solidFill>
                  <a:srgbClr val="FFFFFF"/>
                </a:solidFill>
                <a:ea typeface="+mn-lt"/>
                <a:cs typeface="+mn-lt"/>
              </a:rPr>
              <a:t>   -Understand EV sales growth over time</a:t>
            </a:r>
            <a:endParaRPr lang="en-US" dirty="0"/>
          </a:p>
          <a:p>
            <a:pPr algn="l"/>
            <a:r>
              <a:rPr lang="en-US" sz="2200" dirty="0">
                <a:solidFill>
                  <a:srgbClr val="FFFFFF"/>
                </a:solidFill>
                <a:ea typeface="+mn-lt"/>
                <a:cs typeface="+mn-lt"/>
              </a:rPr>
              <a:t>   -Compare EV adoption across states</a:t>
            </a:r>
            <a:endParaRPr lang="en-US" dirty="0"/>
          </a:p>
          <a:p>
            <a:pPr algn="l"/>
            <a:r>
              <a:rPr lang="en-US" sz="2200" dirty="0">
                <a:solidFill>
                  <a:srgbClr val="FFFFFF"/>
                </a:solidFill>
                <a:ea typeface="+mn-lt"/>
                <a:cs typeface="+mn-lt"/>
              </a:rPr>
              <a:t>    -Analyze vehicle category trends</a:t>
            </a:r>
            <a:endParaRPr lang="en-US" dirty="0"/>
          </a:p>
          <a:p>
            <a:pPr algn="l"/>
            <a:endParaRPr lang="en-US" sz="2200" dirty="0">
              <a:solidFill>
                <a:srgbClr val="FFFFFF"/>
              </a:solidFill>
            </a:endParaRPr>
          </a:p>
          <a:p>
            <a:pPr algn="l"/>
            <a:r>
              <a:rPr lang="en-US" sz="2200" dirty="0">
                <a:solidFill>
                  <a:srgbClr val="FFFFFF"/>
                </a:solidFill>
              </a:rPr>
              <a:t>Visualizations Performed</a:t>
            </a:r>
            <a:endParaRPr lang="en-US" dirty="0"/>
          </a:p>
          <a:p>
            <a:pPr algn="l"/>
            <a:r>
              <a:rPr lang="en-US" sz="2200" dirty="0">
                <a:solidFill>
                  <a:srgbClr val="FFFFFF"/>
                </a:solidFill>
                <a:ea typeface="+mn-lt"/>
                <a:cs typeface="+mn-lt"/>
              </a:rPr>
              <a:t>   -Year-wise EV sales trend</a:t>
            </a:r>
            <a:endParaRPr lang="en-US" dirty="0"/>
          </a:p>
          <a:p>
            <a:pPr algn="l"/>
            <a:r>
              <a:rPr lang="en-US" sz="2200" dirty="0">
                <a:solidFill>
                  <a:srgbClr val="FFFFFF"/>
                </a:solidFill>
                <a:ea typeface="+mn-lt"/>
                <a:cs typeface="+mn-lt"/>
              </a:rPr>
              <a:t>   -Month-wise EV sales analysis</a:t>
            </a:r>
            <a:endParaRPr lang="en-US" dirty="0"/>
          </a:p>
          <a:p>
            <a:pPr algn="l"/>
            <a:r>
              <a:rPr lang="en-US" sz="2200" dirty="0">
                <a:solidFill>
                  <a:srgbClr val="FFFFFF"/>
                </a:solidFill>
                <a:ea typeface="+mn-lt"/>
                <a:cs typeface="+mn-lt"/>
              </a:rPr>
              <a:t>   -State-wise EV sales comparison</a:t>
            </a:r>
            <a:endParaRPr lang="en-US" dirty="0"/>
          </a:p>
          <a:p>
            <a:pPr algn="l"/>
            <a:r>
              <a:rPr lang="en-US" sz="2200" dirty="0">
                <a:solidFill>
                  <a:srgbClr val="FFFFFF"/>
                </a:solidFill>
                <a:ea typeface="+mn-lt"/>
                <a:cs typeface="+mn-lt"/>
              </a:rPr>
              <a:t>   -Vehicle category and type analysis</a:t>
            </a:r>
            <a:endParaRPr lang="en-US" dirty="0"/>
          </a:p>
          <a:p>
            <a:pPr algn="l"/>
            <a:endParaRPr lang="en-US" sz="2200" dirty="0">
              <a:solidFill>
                <a:srgbClr val="FFFFFF"/>
              </a:solidFill>
            </a:endParaRPr>
          </a:p>
          <a:p>
            <a:pPr marL="285750" indent="-285750" algn="l">
              <a:buFont typeface="Arial"/>
              <a:buChar char="•"/>
            </a:pPr>
            <a:endParaRPr lang="en-US" sz="2200" dirty="0">
              <a:solidFill>
                <a:srgbClr val="FFFFFF"/>
              </a:solidFill>
            </a:endParaRPr>
          </a:p>
          <a:p>
            <a:pPr marL="285750" indent="-285750" algn="l">
              <a:buFont typeface="Arial"/>
              <a:buChar char="•"/>
            </a:pPr>
            <a:endParaRPr lang="en-US" sz="2200" dirty="0">
              <a:solidFill>
                <a:srgbClr val="FFFFFF"/>
              </a:solidFill>
            </a:endParaRPr>
          </a:p>
          <a:p>
            <a:pPr algn="l"/>
            <a:endParaRPr lang="en-US" sz="2200">
              <a:solidFill>
                <a:srgbClr val="FFFFFF"/>
              </a:solidFill>
              <a:latin typeface="Aptos Narrow"/>
            </a:endParaRPr>
          </a:p>
          <a:p>
            <a:endParaRPr lang="en-US" sz="2200">
              <a:solidFill>
                <a:srgbClr val="FFFFFF"/>
              </a:solidFill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155819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E59051-C957-ECB8-F1F3-DE5A9E1C2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3C4E0C0-61FC-CE93-A205-9C1D1DEE1C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The Rising Demand for Electric Vehicle in India: An Insurance perspective,  ETAuto">
            <a:extLst>
              <a:ext uri="{FF2B5EF4-FFF2-40B4-BE49-F238E27FC236}">
                <a16:creationId xmlns:a16="http://schemas.microsoft.com/office/drawing/2014/main" id="{3EC4753F-03FD-741E-0104-3963B8CFE8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3917D4B-51A9-B5A3-0176-F58869D726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00BD02-6E57-8227-7736-D77C78223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6268" y="389815"/>
            <a:ext cx="5477220" cy="61858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Century Schoolbook"/>
                <a:ea typeface="+mj-lt"/>
                <a:cs typeface="+mj-lt"/>
              </a:rPr>
              <a:t>Year-wise EV Sales Trend</a:t>
            </a:r>
            <a:endParaRPr lang="en-US" sz="32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9818F8-721D-1D28-1D11-A9B73E3EB1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9882" y="1712598"/>
            <a:ext cx="10058400" cy="473465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endParaRPr lang="en-US" sz="2200" dirty="0">
              <a:solidFill>
                <a:srgbClr val="FFFFFF"/>
              </a:solidFill>
            </a:endParaRPr>
          </a:p>
          <a:p>
            <a:pPr marL="285750" indent="-285750" algn="l">
              <a:buFont typeface="Arial"/>
              <a:buChar char="•"/>
            </a:pPr>
            <a:endParaRPr lang="en-US" sz="2200" dirty="0">
              <a:solidFill>
                <a:srgbClr val="FFFFFF"/>
              </a:solidFill>
            </a:endParaRPr>
          </a:p>
          <a:p>
            <a:pPr marL="285750" indent="-285750" algn="l">
              <a:buFont typeface="Arial"/>
              <a:buChar char="•"/>
            </a:pPr>
            <a:endParaRPr lang="en-US" sz="2200" dirty="0">
              <a:solidFill>
                <a:srgbClr val="FFFFFF"/>
              </a:solidFill>
            </a:endParaRPr>
          </a:p>
          <a:p>
            <a:pPr algn="l"/>
            <a:endParaRPr lang="en-US" sz="2200">
              <a:solidFill>
                <a:srgbClr val="FFFFFF"/>
              </a:solidFill>
              <a:latin typeface="Aptos Narrow"/>
            </a:endParaRPr>
          </a:p>
          <a:p>
            <a:endParaRPr lang="en-US" sz="2200">
              <a:solidFill>
                <a:srgbClr val="FFFFFF"/>
              </a:solidFill>
              <a:latin typeface="Aptos" panose="020B0004020202020204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46DBABE-FD4E-E785-9F13-923F2794C1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165937"/>
            <a:ext cx="9896820" cy="5122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936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DAFDC6-791E-2F65-03AF-C067BFF1A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09FF4F2-3306-5C5C-4D2B-BD90F0D5D7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The Rising Demand for Electric Vehicle in India: An Insurance perspective,  ETAuto">
            <a:extLst>
              <a:ext uri="{FF2B5EF4-FFF2-40B4-BE49-F238E27FC236}">
                <a16:creationId xmlns:a16="http://schemas.microsoft.com/office/drawing/2014/main" id="{4D7C71BC-D011-91AF-F546-F1D5FBFA72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9C374C6-71BA-3397-CD45-EA96528BC2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F671D2-1105-3DDE-9FC4-8EEA8E6A87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24744" y="389815"/>
            <a:ext cx="6138232" cy="61858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Century Schoolbook"/>
                <a:ea typeface="+mj-lt"/>
                <a:cs typeface="+mj-lt"/>
              </a:rPr>
              <a:t>Monthly Sales Trend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128114-9266-B5B4-756A-895CE7D251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9882" y="1712598"/>
            <a:ext cx="10058400" cy="473465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endParaRPr lang="en-US" sz="2200" dirty="0">
              <a:solidFill>
                <a:srgbClr val="FFFFFF"/>
              </a:solidFill>
            </a:endParaRPr>
          </a:p>
          <a:p>
            <a:pPr marL="285750" indent="-285750" algn="l">
              <a:buFont typeface="Arial"/>
              <a:buChar char="•"/>
            </a:pPr>
            <a:endParaRPr lang="en-US" sz="2200" dirty="0">
              <a:solidFill>
                <a:srgbClr val="FFFFFF"/>
              </a:solidFill>
            </a:endParaRPr>
          </a:p>
          <a:p>
            <a:pPr marL="285750" indent="-285750" algn="l">
              <a:buFont typeface="Arial"/>
              <a:buChar char="•"/>
            </a:pPr>
            <a:endParaRPr lang="en-US" sz="2200" dirty="0">
              <a:solidFill>
                <a:srgbClr val="FFFFFF"/>
              </a:solidFill>
            </a:endParaRPr>
          </a:p>
          <a:p>
            <a:pPr algn="l"/>
            <a:endParaRPr lang="en-US" sz="2200">
              <a:solidFill>
                <a:srgbClr val="FFFFFF"/>
              </a:solidFill>
              <a:latin typeface="Aptos Narrow"/>
            </a:endParaRPr>
          </a:p>
          <a:p>
            <a:endParaRPr lang="en-US" sz="2200">
              <a:solidFill>
                <a:srgbClr val="FFFFFF"/>
              </a:solidFill>
              <a:latin typeface="Aptos" panose="020B0004020202020204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CA3086B-2828-7A84-3763-13D75BFFCA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702" y="1165937"/>
            <a:ext cx="10426259" cy="5306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5591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C86DC7-F4C8-C312-8F4A-0B5FF9B68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DA7B81E-D209-4C46-1E7B-1FD356DDB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The Rising Demand for Electric Vehicle in India: An Insurance perspective,  ETAuto">
            <a:extLst>
              <a:ext uri="{FF2B5EF4-FFF2-40B4-BE49-F238E27FC236}">
                <a16:creationId xmlns:a16="http://schemas.microsoft.com/office/drawing/2014/main" id="{6E4214AF-DF97-B97B-AEFF-86779ECB38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80D5214-4779-1C7F-4745-F4D36056DA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539A81-2AFB-56AF-7DB5-2C2D200ED7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24744" y="389815"/>
            <a:ext cx="6138232" cy="61858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Century Schoolbook"/>
                <a:ea typeface="+mj-lt"/>
                <a:cs typeface="+mj-lt"/>
              </a:rPr>
              <a:t>State-wise EV Sales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0D6674-4631-FD6C-120F-3321552C0F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9882" y="1712598"/>
            <a:ext cx="10058400" cy="473465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endParaRPr lang="en-US" sz="2200" dirty="0">
              <a:solidFill>
                <a:srgbClr val="FFFFFF"/>
              </a:solidFill>
            </a:endParaRPr>
          </a:p>
          <a:p>
            <a:pPr marL="285750" indent="-285750" algn="l">
              <a:buFont typeface="Arial"/>
              <a:buChar char="•"/>
            </a:pPr>
            <a:endParaRPr lang="en-US" sz="2200" dirty="0">
              <a:solidFill>
                <a:srgbClr val="FFFFFF"/>
              </a:solidFill>
            </a:endParaRPr>
          </a:p>
          <a:p>
            <a:pPr marL="285750" indent="-285750" algn="l">
              <a:buFont typeface="Arial"/>
              <a:buChar char="•"/>
            </a:pPr>
            <a:endParaRPr lang="en-US" sz="2200" dirty="0">
              <a:solidFill>
                <a:srgbClr val="FFFFFF"/>
              </a:solidFill>
            </a:endParaRPr>
          </a:p>
          <a:p>
            <a:pPr algn="l"/>
            <a:endParaRPr lang="en-US" sz="2200">
              <a:solidFill>
                <a:srgbClr val="FFFFFF"/>
              </a:solidFill>
              <a:latin typeface="Aptos Narrow"/>
            </a:endParaRPr>
          </a:p>
          <a:p>
            <a:endParaRPr lang="en-US" sz="2200">
              <a:solidFill>
                <a:srgbClr val="FFFFFF"/>
              </a:solidFill>
              <a:latin typeface="Aptos" panose="020B0004020202020204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96EC302-61E2-AB80-8663-BA7B0574E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901" y="1165937"/>
            <a:ext cx="10359017" cy="5278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934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2D61C2-1E21-AF34-9F50-20C119BFC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ACF6284-0FD2-0580-1FE4-175123B85F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The Rising Demand for Electric Vehicle in India: An Insurance perspective,  ETAuto">
            <a:extLst>
              <a:ext uri="{FF2B5EF4-FFF2-40B4-BE49-F238E27FC236}">
                <a16:creationId xmlns:a16="http://schemas.microsoft.com/office/drawing/2014/main" id="{4BBA6BFA-111E-4FA5-EE73-90DFE15C27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475A77F-BE19-8E0D-D827-18272375A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B721D5-3C98-7785-E032-9C49121C29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24744" y="389815"/>
            <a:ext cx="6771701" cy="61858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Century Schoolbook"/>
                <a:ea typeface="+mj-lt"/>
                <a:cs typeface="+mj-lt"/>
              </a:rPr>
              <a:t>Vehicle Category Analysis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FE2BB9-D4A1-E152-44E5-2670A19530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9882" y="1712598"/>
            <a:ext cx="10058400" cy="473465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endParaRPr lang="en-US" sz="2200" dirty="0">
              <a:solidFill>
                <a:srgbClr val="FFFFFF"/>
              </a:solidFill>
            </a:endParaRPr>
          </a:p>
          <a:p>
            <a:pPr marL="285750" indent="-285750" algn="l">
              <a:buFont typeface="Arial"/>
              <a:buChar char="•"/>
            </a:pPr>
            <a:endParaRPr lang="en-US" sz="2200" dirty="0">
              <a:solidFill>
                <a:srgbClr val="FFFFFF"/>
              </a:solidFill>
            </a:endParaRPr>
          </a:p>
          <a:p>
            <a:pPr marL="285750" indent="-285750" algn="l">
              <a:buFont typeface="Arial"/>
              <a:buChar char="•"/>
            </a:pPr>
            <a:endParaRPr lang="en-US" sz="2200" dirty="0">
              <a:solidFill>
                <a:srgbClr val="FFFFFF"/>
              </a:solidFill>
            </a:endParaRPr>
          </a:p>
          <a:p>
            <a:pPr algn="l"/>
            <a:endParaRPr lang="en-US" sz="2200">
              <a:solidFill>
                <a:srgbClr val="FFFFFF"/>
              </a:solidFill>
              <a:latin typeface="Aptos Narrow"/>
            </a:endParaRPr>
          </a:p>
          <a:p>
            <a:endParaRPr lang="en-US" sz="2200">
              <a:solidFill>
                <a:srgbClr val="FFFFFF"/>
              </a:solidFill>
              <a:latin typeface="Aptos" panose="020B0004020202020204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204FC69-3120-8FCB-E1B8-84FADA0F29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898" y="1165937"/>
            <a:ext cx="10207022" cy="5278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9963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FB74AA-C733-4609-A77B-A32221EC3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1BA94BE-119A-2EF8-3195-E4E9CC7127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The Rising Demand for Electric Vehicle in India: An Insurance perspective,  ETAuto">
            <a:extLst>
              <a:ext uri="{FF2B5EF4-FFF2-40B4-BE49-F238E27FC236}">
                <a16:creationId xmlns:a16="http://schemas.microsoft.com/office/drawing/2014/main" id="{14FC816E-9FAB-2A8B-9D21-3BF4E8551F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BE15E73-12E6-C225-0949-ECBEA0A13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468921-2273-228A-10DD-FDF4967FBD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2823" y="389815"/>
            <a:ext cx="5128351" cy="93073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  <a:latin typeface="Century Schoolbook"/>
                <a:ea typeface="+mj-lt"/>
                <a:cs typeface="+mj-lt"/>
              </a:rPr>
              <a:t>EDA – Key Insights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8569D6-E362-49A4-2001-22494079D7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9882" y="1721778"/>
            <a:ext cx="10058400" cy="47254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r>
              <a:rPr lang="en-US" sz="2200">
                <a:solidFill>
                  <a:srgbClr val="FFFFFF"/>
                </a:solidFill>
                <a:ea typeface="+mn-lt"/>
                <a:cs typeface="+mn-lt"/>
              </a:rPr>
              <a:t>Key Observations</a:t>
            </a:r>
            <a:endParaRPr lang="en-US"/>
          </a:p>
          <a:p>
            <a:pPr marL="285750" indent="-285750" algn="l">
              <a:buChar char="•"/>
            </a:pPr>
            <a:r>
              <a:rPr lang="en-US" sz="2200">
                <a:solidFill>
                  <a:srgbClr val="FFFFFF"/>
                </a:solidFill>
                <a:ea typeface="+mn-lt"/>
                <a:cs typeface="+mn-lt"/>
              </a:rPr>
              <a:t> EV sales show </a:t>
            </a:r>
            <a:r>
              <a:rPr lang="en-US" sz="2200" b="1">
                <a:solidFill>
                  <a:srgbClr val="FFFFFF"/>
                </a:solidFill>
                <a:ea typeface="+mn-lt"/>
                <a:cs typeface="+mn-lt"/>
              </a:rPr>
              <a:t>significant growth in recent years</a:t>
            </a:r>
            <a:endParaRPr lang="en-US" dirty="0"/>
          </a:p>
          <a:p>
            <a:pPr marL="285750" indent="-285750" algn="l">
              <a:buChar char="•"/>
            </a:pPr>
            <a:r>
              <a:rPr lang="en-US" sz="2200" dirty="0">
                <a:solidFill>
                  <a:srgbClr val="FFFFFF"/>
                </a:solidFill>
                <a:ea typeface="+mn-lt"/>
                <a:cs typeface="+mn-lt"/>
              </a:rPr>
              <a:t>Maharashtra, Karnataka, and Uttar Pradesh lead in EV adoption</a:t>
            </a:r>
            <a:endParaRPr lang="en-US" dirty="0">
              <a:ea typeface="+mn-lt"/>
              <a:cs typeface="+mn-lt"/>
            </a:endParaRPr>
          </a:p>
          <a:p>
            <a:pPr marL="285750" indent="-285750" algn="l">
              <a:buChar char="•"/>
            </a:pPr>
            <a:r>
              <a:rPr lang="en-US" sz="2200" dirty="0">
                <a:solidFill>
                  <a:srgbClr val="FFFFFF"/>
                </a:solidFill>
                <a:ea typeface="+mn-lt"/>
                <a:cs typeface="+mn-lt"/>
              </a:rPr>
              <a:t>2-Wheelers dominate the EV market</a:t>
            </a:r>
            <a:endParaRPr lang="en-US" dirty="0"/>
          </a:p>
          <a:p>
            <a:pPr marL="285750" indent="-285750" algn="l">
              <a:buChar char="•"/>
            </a:pPr>
            <a:r>
              <a:rPr lang="en-US" sz="2200" dirty="0">
                <a:solidFill>
                  <a:srgbClr val="FFFFFF"/>
                </a:solidFill>
                <a:ea typeface="+mn-lt"/>
                <a:cs typeface="+mn-lt"/>
              </a:rPr>
              <a:t>Commercial and shared vehicles show rising adoption</a:t>
            </a:r>
            <a:endParaRPr lang="en-US" dirty="0"/>
          </a:p>
          <a:p>
            <a:pPr algn="l"/>
            <a:endParaRPr lang="en-US" sz="2200" dirty="0">
              <a:solidFill>
                <a:srgbClr val="FFFFFF"/>
              </a:solidFill>
            </a:endParaRPr>
          </a:p>
          <a:p>
            <a:pPr algn="l"/>
            <a:endParaRPr lang="en-US" sz="2200" dirty="0">
              <a:solidFill>
                <a:srgbClr val="FFFFFF"/>
              </a:solidFill>
            </a:endParaRPr>
          </a:p>
          <a:p>
            <a:pPr marL="285750" indent="-285750" algn="l">
              <a:buFont typeface="Arial"/>
              <a:buChar char="•"/>
            </a:pPr>
            <a:endParaRPr lang="en-US" sz="2200" dirty="0">
              <a:solidFill>
                <a:srgbClr val="FFFFFF"/>
              </a:solidFill>
            </a:endParaRPr>
          </a:p>
          <a:p>
            <a:pPr marL="285750" indent="-285750" algn="l">
              <a:buFont typeface="Arial"/>
              <a:buChar char="•"/>
            </a:pPr>
            <a:endParaRPr lang="en-US" sz="2200" dirty="0">
              <a:solidFill>
                <a:srgbClr val="FFFFFF"/>
              </a:solidFill>
            </a:endParaRPr>
          </a:p>
          <a:p>
            <a:pPr algn="l"/>
            <a:endParaRPr lang="en-US" sz="2200">
              <a:solidFill>
                <a:srgbClr val="FFFFFF"/>
              </a:solidFill>
              <a:latin typeface="Aptos Narrow"/>
            </a:endParaRPr>
          </a:p>
          <a:p>
            <a:endParaRPr lang="en-US" sz="2200">
              <a:solidFill>
                <a:srgbClr val="FFFFFF"/>
              </a:solidFill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6437123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7ED91D-856E-83C0-17C6-2DE0E9CA4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7899B5-E9C1-94EF-C6B1-25F81A5142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The Rising Demand for Electric Vehicle in India: An Insurance perspective,  ETAuto">
            <a:extLst>
              <a:ext uri="{FF2B5EF4-FFF2-40B4-BE49-F238E27FC236}">
                <a16:creationId xmlns:a16="http://schemas.microsoft.com/office/drawing/2014/main" id="{369E72ED-597E-376E-47E1-021D64088D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AD3D3F3-D606-1426-03AC-4E1CC227F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A659F1-0268-B356-C99E-BE63DAD964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2823" y="389815"/>
            <a:ext cx="5734278" cy="93073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3600">
                <a:solidFill>
                  <a:srgbClr val="FFFFFF"/>
                </a:solidFill>
                <a:latin typeface="Century Schoolbook"/>
                <a:ea typeface="+mj-lt"/>
                <a:cs typeface="+mj-lt"/>
              </a:rPr>
              <a:t>Machine Learning Model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F0344F-C33C-DAE9-BCF9-AF368817D0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9882" y="1721778"/>
            <a:ext cx="10058400" cy="47254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r>
              <a:rPr lang="en-US" sz="2200">
                <a:solidFill>
                  <a:srgbClr val="FFFFFF"/>
                </a:solidFill>
              </a:rPr>
              <a:t>Model Used</a:t>
            </a:r>
            <a:endParaRPr lang="en-US"/>
          </a:p>
          <a:p>
            <a:pPr marL="342900" indent="-342900" algn="l">
              <a:buChar char="•"/>
            </a:pPr>
            <a:r>
              <a:rPr lang="en-US" sz="2200">
                <a:solidFill>
                  <a:srgbClr val="FFFFFF"/>
                </a:solidFill>
                <a:ea typeface="+mn-lt"/>
                <a:cs typeface="+mn-lt"/>
              </a:rPr>
              <a:t>Random Forest Regressor</a:t>
            </a:r>
            <a:endParaRPr lang="en-US"/>
          </a:p>
          <a:p>
            <a:pPr marL="342900" indent="-342900" algn="l">
              <a:buChar char="•"/>
            </a:pPr>
            <a:endParaRPr lang="en-US" sz="2200" dirty="0">
              <a:solidFill>
                <a:srgbClr val="FFFFFF"/>
              </a:solidFill>
            </a:endParaRPr>
          </a:p>
          <a:p>
            <a:pPr algn="l"/>
            <a:r>
              <a:rPr lang="en-US" sz="2200">
                <a:solidFill>
                  <a:srgbClr val="FFFFFF"/>
                </a:solidFill>
              </a:rPr>
              <a:t>Why Random Forest?</a:t>
            </a:r>
            <a:endParaRPr lang="en-US"/>
          </a:p>
          <a:p>
            <a:pPr marL="342900" indent="-342900" algn="l">
              <a:buChar char="•"/>
            </a:pPr>
            <a:r>
              <a:rPr lang="en-US" sz="2200">
                <a:solidFill>
                  <a:srgbClr val="FFFFFF"/>
                </a:solidFill>
                <a:ea typeface="+mn-lt"/>
                <a:cs typeface="+mn-lt"/>
              </a:rPr>
              <a:t>Handles large datasets efficiently</a:t>
            </a:r>
            <a:endParaRPr lang="en-US"/>
          </a:p>
          <a:p>
            <a:pPr marL="342900" indent="-342900" algn="l">
              <a:buChar char="•"/>
            </a:pPr>
            <a:r>
              <a:rPr lang="en-US" sz="2200">
                <a:solidFill>
                  <a:srgbClr val="FFFFFF"/>
                </a:solidFill>
                <a:ea typeface="+mn-lt"/>
                <a:cs typeface="+mn-lt"/>
              </a:rPr>
              <a:t>Works well with non-linear data</a:t>
            </a:r>
            <a:endParaRPr lang="en-US"/>
          </a:p>
          <a:p>
            <a:pPr marL="342900" indent="-342900" algn="l">
              <a:buChar char="•"/>
            </a:pPr>
            <a:r>
              <a:rPr lang="en-US" sz="2200">
                <a:solidFill>
                  <a:srgbClr val="FFFFFF"/>
                </a:solidFill>
                <a:ea typeface="+mn-lt"/>
                <a:cs typeface="+mn-lt"/>
              </a:rPr>
              <a:t>Provides feature importance insights</a:t>
            </a:r>
            <a:endParaRPr lang="en-US"/>
          </a:p>
          <a:p>
            <a:pPr algn="l"/>
            <a:endParaRPr lang="en-US" sz="2200" dirty="0">
              <a:solidFill>
                <a:srgbClr val="FFFFFF"/>
              </a:solidFill>
            </a:endParaRPr>
          </a:p>
          <a:p>
            <a:pPr algn="l"/>
            <a:endParaRPr lang="en-US" sz="2200" dirty="0">
              <a:solidFill>
                <a:srgbClr val="FFFFFF"/>
              </a:solidFill>
            </a:endParaRPr>
          </a:p>
          <a:p>
            <a:pPr algn="l"/>
            <a:endParaRPr lang="en-US" sz="2200" dirty="0">
              <a:solidFill>
                <a:srgbClr val="FFFFFF"/>
              </a:solidFill>
            </a:endParaRPr>
          </a:p>
          <a:p>
            <a:pPr marL="285750" indent="-285750" algn="l">
              <a:buFont typeface="Arial"/>
              <a:buChar char="•"/>
            </a:pPr>
            <a:endParaRPr lang="en-US" sz="2200" dirty="0">
              <a:solidFill>
                <a:srgbClr val="FFFFFF"/>
              </a:solidFill>
            </a:endParaRPr>
          </a:p>
          <a:p>
            <a:pPr marL="285750" indent="-285750" algn="l">
              <a:buFont typeface="Arial"/>
              <a:buChar char="•"/>
            </a:pPr>
            <a:endParaRPr lang="en-US" sz="2200" dirty="0">
              <a:solidFill>
                <a:srgbClr val="FFFFFF"/>
              </a:solidFill>
            </a:endParaRPr>
          </a:p>
          <a:p>
            <a:pPr algn="l"/>
            <a:endParaRPr lang="en-US" sz="2200">
              <a:solidFill>
                <a:srgbClr val="FFFFFF"/>
              </a:solidFill>
              <a:latin typeface="Aptos Narrow"/>
            </a:endParaRPr>
          </a:p>
          <a:p>
            <a:endParaRPr lang="en-US" sz="2200">
              <a:solidFill>
                <a:srgbClr val="FFFFFF"/>
              </a:solidFill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5012253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F8926B-BFFE-78EE-C40E-E9BFEF7D3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E602AF0-8B6F-D65C-8999-C3B5D86842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The Rising Demand for Electric Vehicle in India: An Insurance perspective,  ETAuto">
            <a:extLst>
              <a:ext uri="{FF2B5EF4-FFF2-40B4-BE49-F238E27FC236}">
                <a16:creationId xmlns:a16="http://schemas.microsoft.com/office/drawing/2014/main" id="{AEF97FA4-2C3D-C107-4F23-699C890AB5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9DB63E8-5DAA-38B8-33AB-1D18C46C0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80762C-ECEA-932D-AC30-2A496A82FA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2823" y="389815"/>
            <a:ext cx="6523820" cy="93073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3600">
                <a:solidFill>
                  <a:srgbClr val="FFFFFF"/>
                </a:solidFill>
                <a:latin typeface="Century Schoolbook"/>
                <a:ea typeface="+mj-lt"/>
                <a:cs typeface="+mj-lt"/>
              </a:rPr>
              <a:t>Model Training &amp; Evaluation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833EF4-B801-57A9-7251-55F35B9FA5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9882" y="1721778"/>
            <a:ext cx="10058400" cy="47254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Model Training</a:t>
            </a:r>
          </a:p>
          <a:p>
            <a:pPr marL="285750" indent="-285750" algn="l"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ea typeface="+mn-lt"/>
                <a:cs typeface="+mn-lt"/>
              </a:rPr>
              <a:t>Dataset split:</a:t>
            </a:r>
            <a:endParaRPr lang="en-US"/>
          </a:p>
          <a:p>
            <a:pPr marL="742950" lvl="1" indent="-285750" algn="l"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ea typeface="+mn-lt"/>
                <a:cs typeface="+mn-lt"/>
              </a:rPr>
              <a:t>80% Training</a:t>
            </a:r>
            <a:endParaRPr lang="en-US"/>
          </a:p>
          <a:p>
            <a:pPr marL="742950" lvl="1" indent="-285750" algn="l"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ea typeface="+mn-lt"/>
                <a:cs typeface="+mn-lt"/>
              </a:rPr>
              <a:t>20% Testing</a:t>
            </a:r>
            <a:endParaRPr lang="en-US"/>
          </a:p>
          <a:p>
            <a:pPr marL="285750" indent="-285750" algn="l"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ea typeface="+mn-lt"/>
                <a:cs typeface="+mn-lt"/>
              </a:rPr>
              <a:t>Model trained on historical EV sales data</a:t>
            </a:r>
            <a:endParaRPr lang="en-US">
              <a:ea typeface="+mn-lt"/>
              <a:cs typeface="+mn-lt"/>
            </a:endParaRPr>
          </a:p>
          <a:p>
            <a:pPr algn="l"/>
            <a:r>
              <a:rPr lang="en-US">
                <a:solidFill>
                  <a:schemeClr val="bg1"/>
                </a:solidFill>
              </a:rPr>
              <a:t>Evaluation Metric</a:t>
            </a:r>
          </a:p>
          <a:p>
            <a:pPr marL="285750" indent="-285750" algn="l">
              <a:buFont typeface="Arial"/>
              <a:buChar char="•"/>
            </a:pPr>
            <a:r>
              <a:rPr lang="en-US" sz="2200" b="1">
                <a:solidFill>
                  <a:srgbClr val="FFFFFF"/>
                </a:solidFill>
                <a:ea typeface="+mn-lt"/>
                <a:cs typeface="+mn-lt"/>
              </a:rPr>
              <a:t>RMSE (Root Mean Squared Error)</a:t>
            </a:r>
            <a:endParaRPr lang="en-US"/>
          </a:p>
          <a:p>
            <a:pPr algn="l"/>
            <a:r>
              <a:rPr lang="en-US">
                <a:solidFill>
                  <a:schemeClr val="bg1"/>
                </a:solidFill>
              </a:rPr>
              <a:t>Performance</a:t>
            </a:r>
          </a:p>
          <a:p>
            <a:pPr marL="285750" indent="-285750" algn="l"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ea typeface="+mn-lt"/>
                <a:cs typeface="+mn-lt"/>
              </a:rPr>
              <a:t>Model accurately predicts EV sales trends</a:t>
            </a:r>
            <a:endParaRPr lang="en-US"/>
          </a:p>
          <a:p>
            <a:pPr marL="285750" indent="-285750" algn="l"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ea typeface="+mn-lt"/>
                <a:cs typeface="+mn-lt"/>
              </a:rPr>
              <a:t>Predictions closely match actual sales values</a:t>
            </a:r>
            <a:endParaRPr lang="en-US"/>
          </a:p>
          <a:p>
            <a:pPr algn="l"/>
            <a:endParaRPr lang="en-US" sz="2200" dirty="0">
              <a:solidFill>
                <a:srgbClr val="FFFFFF"/>
              </a:solidFill>
            </a:endParaRPr>
          </a:p>
          <a:p>
            <a:pPr algn="l"/>
            <a:endParaRPr lang="en-US" sz="2200" dirty="0">
              <a:solidFill>
                <a:srgbClr val="FFFFFF"/>
              </a:solidFill>
            </a:endParaRPr>
          </a:p>
          <a:p>
            <a:pPr algn="l"/>
            <a:endParaRPr lang="en-US" sz="2200" dirty="0">
              <a:solidFill>
                <a:srgbClr val="FFFFFF"/>
              </a:solidFill>
            </a:endParaRPr>
          </a:p>
          <a:p>
            <a:pPr algn="l"/>
            <a:endParaRPr lang="en-US" sz="2200" dirty="0">
              <a:solidFill>
                <a:srgbClr val="FFFFFF"/>
              </a:solidFill>
            </a:endParaRPr>
          </a:p>
          <a:p>
            <a:pPr marL="285750" indent="-285750" algn="l">
              <a:buFont typeface="Arial"/>
              <a:buChar char="•"/>
            </a:pPr>
            <a:endParaRPr lang="en-US" sz="2200" dirty="0">
              <a:solidFill>
                <a:srgbClr val="FFFFFF"/>
              </a:solidFill>
            </a:endParaRPr>
          </a:p>
          <a:p>
            <a:pPr marL="285750" indent="-285750" algn="l">
              <a:buFont typeface="Arial"/>
              <a:buChar char="•"/>
            </a:pPr>
            <a:endParaRPr lang="en-US" sz="2200" dirty="0">
              <a:solidFill>
                <a:srgbClr val="FFFFFF"/>
              </a:solidFill>
            </a:endParaRPr>
          </a:p>
          <a:p>
            <a:pPr algn="l"/>
            <a:endParaRPr lang="en-US" sz="2200">
              <a:solidFill>
                <a:srgbClr val="FFFFFF"/>
              </a:solidFill>
              <a:latin typeface="Aptos Narrow"/>
            </a:endParaRPr>
          </a:p>
          <a:p>
            <a:endParaRPr lang="en-US" sz="2200">
              <a:solidFill>
                <a:srgbClr val="FFFFFF"/>
              </a:solidFill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8774481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4B1DB1-C40C-7B8D-433E-B944B2CC5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7CF4BD-D092-316F-16A7-D6E12F3EA6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The Rising Demand for Electric Vehicle in India: An Insurance perspective,  ETAuto">
            <a:extLst>
              <a:ext uri="{FF2B5EF4-FFF2-40B4-BE49-F238E27FC236}">
                <a16:creationId xmlns:a16="http://schemas.microsoft.com/office/drawing/2014/main" id="{68D99C85-08BB-5601-3449-718C591390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77E7E65-D2D6-BA77-F392-C6DE04C66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2E128B-F747-AED3-A529-DDB3D4F318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6751" y="298008"/>
            <a:ext cx="5128350" cy="114188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3600">
                <a:solidFill>
                  <a:srgbClr val="FFFFFF"/>
                </a:solidFill>
                <a:latin typeface="Century Schoolbook"/>
              </a:rPr>
              <a:t>Model Evaluation</a:t>
            </a:r>
            <a:endParaRPr lang="en-US"/>
          </a:p>
          <a:p>
            <a:endParaRPr lang="en-US" sz="3600" dirty="0">
              <a:solidFill>
                <a:srgbClr val="FFFFFF"/>
              </a:solidFill>
              <a:latin typeface="Century Schoolbook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2E315F-6428-6EB3-F03D-A70D906B17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9545" y="776166"/>
            <a:ext cx="10278737" cy="567109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endParaRPr lang="en-US" sz="1200" b="1" dirty="0">
              <a:solidFill>
                <a:srgbClr val="1F1F1F"/>
              </a:solidFill>
              <a:highlight>
                <a:srgbClr val="FFFFFF"/>
              </a:highlight>
              <a:ea typeface="+mn-lt"/>
              <a:cs typeface="+mn-lt"/>
            </a:endParaRPr>
          </a:p>
          <a:p>
            <a:pPr algn="l"/>
            <a:r>
              <a:rPr lang="en-US" sz="2200">
                <a:solidFill>
                  <a:srgbClr val="FFFFFF"/>
                </a:solidFill>
                <a:ea typeface="+mn-lt"/>
                <a:cs typeface="+mn-lt"/>
              </a:rPr>
              <a:t>Actual vs Predicted</a:t>
            </a:r>
            <a:endParaRPr lang="en-US"/>
          </a:p>
          <a:p>
            <a:pPr algn="l"/>
            <a:endParaRPr lang="en-US" sz="2200" dirty="0">
              <a:solidFill>
                <a:srgbClr val="FFFFFF"/>
              </a:solidFill>
            </a:endParaRPr>
          </a:p>
          <a:p>
            <a:pPr marL="285750" indent="-285750" algn="l">
              <a:buFont typeface="Arial"/>
              <a:buChar char="•"/>
            </a:pPr>
            <a:endParaRPr lang="en-US" sz="2200" dirty="0">
              <a:solidFill>
                <a:srgbClr val="FFFFFF"/>
              </a:solidFill>
            </a:endParaRPr>
          </a:p>
          <a:p>
            <a:pPr marL="285750" indent="-285750" algn="l">
              <a:buFont typeface="Arial"/>
              <a:buChar char="•"/>
            </a:pPr>
            <a:endParaRPr lang="en-US" sz="2200" dirty="0">
              <a:solidFill>
                <a:srgbClr val="FFFFFF"/>
              </a:solidFill>
              <a:latin typeface="Aptos"/>
            </a:endParaRPr>
          </a:p>
          <a:p>
            <a:pPr algn="l"/>
            <a:endParaRPr lang="en-US" sz="2200">
              <a:solidFill>
                <a:srgbClr val="FFFFFF"/>
              </a:solidFill>
              <a:latin typeface="Aptos Narrow"/>
            </a:endParaRPr>
          </a:p>
          <a:p>
            <a:endParaRPr lang="en-US" sz="2200">
              <a:solidFill>
                <a:srgbClr val="FFFFFF"/>
              </a:solidFill>
              <a:latin typeface="Aptos" panose="020B0004020202020204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2319A40-B9FB-21FD-5DF2-127EAA8288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169" y="1657158"/>
            <a:ext cx="10172241" cy="437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6235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EC89D5-8488-62BE-4E34-C5C23F40B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5DCC4D0-A5B7-16EE-786D-95DD41ED71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The Rising Demand for Electric Vehicle in India: An Insurance perspective,  ETAuto">
            <a:extLst>
              <a:ext uri="{FF2B5EF4-FFF2-40B4-BE49-F238E27FC236}">
                <a16:creationId xmlns:a16="http://schemas.microsoft.com/office/drawing/2014/main" id="{6B04A216-18CF-63E4-92FE-8E911647CC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C2B7AB9-8D89-F9FC-EC2E-93829FDE4D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3F750-870E-0627-115F-02D7EDFAE6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6751" y="298008"/>
            <a:ext cx="5128350" cy="114188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3600">
                <a:solidFill>
                  <a:srgbClr val="FFFFFF"/>
                </a:solidFill>
                <a:latin typeface="Century Schoolbook"/>
              </a:rPr>
              <a:t>Model Evaluation</a:t>
            </a:r>
            <a:endParaRPr lang="en-US"/>
          </a:p>
          <a:p>
            <a:endParaRPr lang="en-US" sz="3600" dirty="0">
              <a:solidFill>
                <a:srgbClr val="FFFFFF"/>
              </a:solidFill>
              <a:latin typeface="Century Schoolbook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AFF6A6-867B-A0A5-3FA1-B5545A1A17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9545" y="776166"/>
            <a:ext cx="10278737" cy="567109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endParaRPr lang="en-US" sz="1200" b="1" dirty="0">
              <a:solidFill>
                <a:srgbClr val="1F1F1F"/>
              </a:solidFill>
              <a:highlight>
                <a:srgbClr val="FFFFFF"/>
              </a:highlight>
              <a:ea typeface="+mn-lt"/>
              <a:cs typeface="+mn-lt"/>
            </a:endParaRPr>
          </a:p>
          <a:p>
            <a:pPr algn="l"/>
            <a:r>
              <a:rPr lang="en-US" sz="2200">
                <a:solidFill>
                  <a:srgbClr val="FFFFFF"/>
                </a:solidFill>
                <a:ea typeface="+mn-lt"/>
                <a:cs typeface="+mn-lt"/>
              </a:rPr>
              <a:t>Feature Importance</a:t>
            </a:r>
            <a:endParaRPr lang="en-US"/>
          </a:p>
          <a:p>
            <a:pPr algn="l"/>
            <a:endParaRPr lang="en-US" sz="2200" dirty="0">
              <a:solidFill>
                <a:srgbClr val="FFFFFF"/>
              </a:solidFill>
            </a:endParaRPr>
          </a:p>
          <a:p>
            <a:pPr marL="285750" indent="-285750" algn="l">
              <a:buFont typeface="Arial"/>
              <a:buChar char="•"/>
            </a:pPr>
            <a:endParaRPr lang="en-US" sz="2200" dirty="0">
              <a:solidFill>
                <a:srgbClr val="FFFFFF"/>
              </a:solidFill>
            </a:endParaRPr>
          </a:p>
          <a:p>
            <a:pPr marL="285750" indent="-285750" algn="l">
              <a:buFont typeface="Arial"/>
              <a:buChar char="•"/>
            </a:pPr>
            <a:endParaRPr lang="en-US" sz="2200" dirty="0">
              <a:solidFill>
                <a:srgbClr val="FFFFFF"/>
              </a:solidFill>
              <a:latin typeface="Aptos"/>
            </a:endParaRPr>
          </a:p>
          <a:p>
            <a:pPr algn="l"/>
            <a:endParaRPr lang="en-US" sz="2200">
              <a:solidFill>
                <a:srgbClr val="FFFFFF"/>
              </a:solidFill>
              <a:latin typeface="Aptos Narrow"/>
            </a:endParaRPr>
          </a:p>
          <a:p>
            <a:endParaRPr lang="en-US" sz="2200">
              <a:solidFill>
                <a:srgbClr val="FFFFFF"/>
              </a:solidFill>
              <a:latin typeface="Aptos" panose="020B0004020202020204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91414BA-4A0B-8454-1F27-6D824B3B5F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097" y="1446001"/>
            <a:ext cx="9791397" cy="5150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9433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A0B4B5-7107-9A04-8D3D-AD79EF209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FB86E0A-D200-6A50-4D91-896689D93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The Rising Demand for Electric Vehicle in India: An Insurance perspective,  ETAuto">
            <a:extLst>
              <a:ext uri="{FF2B5EF4-FFF2-40B4-BE49-F238E27FC236}">
                <a16:creationId xmlns:a16="http://schemas.microsoft.com/office/drawing/2014/main" id="{2FFEBAB0-21AC-C06C-0E88-064E2766AB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AEA845A-C904-BC3B-A47A-517C598DFB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042C3D-03B1-6093-5B9E-37D71CEBE9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2823" y="389815"/>
            <a:ext cx="5284423" cy="93073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3600">
                <a:solidFill>
                  <a:srgbClr val="FFFFFF"/>
                </a:solidFill>
                <a:latin typeface="Century Schoolbook"/>
                <a:ea typeface="+mj-lt"/>
                <a:cs typeface="+mj-lt"/>
              </a:rPr>
              <a:t>Results &amp; Insights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669D79-0A1F-4037-2336-43925F1212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9882" y="1721778"/>
            <a:ext cx="10058400" cy="47254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Results</a:t>
            </a:r>
          </a:p>
          <a:p>
            <a:pPr marL="285750" indent="-285750" algn="l">
              <a:buFont typeface="Arial"/>
              <a:buChar char="•"/>
            </a:pP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State and vehicle category are the strongest predictors</a:t>
            </a:r>
            <a:endParaRPr lang="en-US"/>
          </a:p>
          <a:p>
            <a:pPr marL="285750" indent="-285750" algn="l">
              <a:buFont typeface="Arial"/>
              <a:buChar char="•"/>
            </a:pP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EV adoption is higher in urban and industrial states</a:t>
            </a:r>
            <a:endParaRPr lang="en-US"/>
          </a:p>
          <a:p>
            <a:pPr marL="285750" indent="-285750" algn="l">
              <a:buFont typeface="Arial"/>
              <a:buChar char="•"/>
            </a:pP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Two-wheelers contribute the most to EV sales volume</a:t>
            </a:r>
            <a:endParaRPr lang="en-US"/>
          </a:p>
          <a:p>
            <a:pPr algn="l"/>
            <a:r>
              <a:rPr lang="en-US">
                <a:solidFill>
                  <a:schemeClr val="bg1"/>
                </a:solidFill>
              </a:rPr>
              <a:t>Business Value</a:t>
            </a:r>
          </a:p>
          <a:p>
            <a:pPr marL="285750" indent="-285750" algn="l">
              <a:buFont typeface="Arial"/>
              <a:buChar char="•"/>
            </a:pP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Helps government in policy planning</a:t>
            </a:r>
            <a:endParaRPr lang="en-US"/>
          </a:p>
          <a:p>
            <a:pPr marL="285750" indent="-285750" algn="l">
              <a:buFont typeface="Arial"/>
              <a:buChar char="•"/>
            </a:pP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Helps companies identify high-growth regions</a:t>
            </a:r>
            <a:endParaRPr lang="en-US"/>
          </a:p>
          <a:p>
            <a:pPr marL="285750" indent="-285750" algn="l">
              <a:buFont typeface="Arial"/>
              <a:buChar char="•"/>
            </a:pP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Supports infrastructure development decisions</a:t>
            </a:r>
            <a:endParaRPr lang="en-US"/>
          </a:p>
          <a:p>
            <a:pPr algn="l"/>
            <a:endParaRPr lang="en-US" dirty="0">
              <a:solidFill>
                <a:schemeClr val="bg1"/>
              </a:solidFill>
            </a:endParaRPr>
          </a:p>
          <a:p>
            <a:pPr algn="l"/>
            <a:endParaRPr lang="en-US" sz="2200" dirty="0">
              <a:solidFill>
                <a:srgbClr val="FFFFFF"/>
              </a:solidFill>
            </a:endParaRPr>
          </a:p>
          <a:p>
            <a:pPr algn="l"/>
            <a:endParaRPr lang="en-US" sz="2200" dirty="0">
              <a:solidFill>
                <a:srgbClr val="FFFFFF"/>
              </a:solidFill>
            </a:endParaRPr>
          </a:p>
          <a:p>
            <a:pPr algn="l"/>
            <a:endParaRPr lang="en-US" sz="2200" dirty="0">
              <a:solidFill>
                <a:srgbClr val="FFFFFF"/>
              </a:solidFill>
            </a:endParaRPr>
          </a:p>
          <a:p>
            <a:pPr marL="285750" indent="-285750" algn="l">
              <a:buFont typeface="Arial"/>
              <a:buChar char="•"/>
            </a:pPr>
            <a:endParaRPr lang="en-US" sz="2200" dirty="0">
              <a:solidFill>
                <a:srgbClr val="FFFFFF"/>
              </a:solidFill>
            </a:endParaRPr>
          </a:p>
          <a:p>
            <a:pPr marL="285750" indent="-285750" algn="l">
              <a:buFont typeface="Arial"/>
              <a:buChar char="•"/>
            </a:pPr>
            <a:endParaRPr lang="en-US" sz="2200" dirty="0">
              <a:solidFill>
                <a:srgbClr val="FFFFFF"/>
              </a:solidFill>
            </a:endParaRPr>
          </a:p>
          <a:p>
            <a:pPr algn="l"/>
            <a:endParaRPr lang="en-US" sz="2200">
              <a:solidFill>
                <a:srgbClr val="FFFFFF"/>
              </a:solidFill>
              <a:latin typeface="Aptos Narrow"/>
            </a:endParaRPr>
          </a:p>
          <a:p>
            <a:endParaRPr lang="en-US" sz="2200">
              <a:solidFill>
                <a:srgbClr val="FFFFFF"/>
              </a:solidFill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6365305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72C1E0-6FE2-C852-3FCE-6EA0D0066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1D1F9A2-7781-BEC5-8C70-FBCE1C4AE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The Rising Demand for Electric Vehicle in India: An Insurance perspective,  ETAuto">
            <a:extLst>
              <a:ext uri="{FF2B5EF4-FFF2-40B4-BE49-F238E27FC236}">
                <a16:creationId xmlns:a16="http://schemas.microsoft.com/office/drawing/2014/main" id="{FE179046-67B1-E991-54FF-17528E759C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25079EF-6861-9B48-6A3F-693FAE13A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E7E594-0ECF-8775-9C93-94E028DCDC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381514" y="389815"/>
            <a:ext cx="7028760" cy="93073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3600">
                <a:solidFill>
                  <a:srgbClr val="FFFFFF"/>
                </a:solidFill>
                <a:latin typeface="Century Schoolbook"/>
                <a:ea typeface="+mj-lt"/>
                <a:cs typeface="+mj-lt"/>
              </a:rPr>
              <a:t>Conclusion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AE5550-73B7-04D3-D184-BD600B8C8D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9882" y="1721778"/>
            <a:ext cx="10058400" cy="47254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 algn="l">
              <a:buChar char="•"/>
            </a:pP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EV adoption in India is growing rapidly</a:t>
            </a:r>
            <a:endParaRPr lang="en-US"/>
          </a:p>
          <a:p>
            <a:pPr marL="342900" indent="-342900" algn="l">
              <a:buChar char="•"/>
            </a:pP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State-wise and vehicle-wise analysis reveals clear trends</a:t>
            </a:r>
            <a:endParaRPr lang="en-US"/>
          </a:p>
          <a:p>
            <a:pPr marL="342900" indent="-342900" algn="l">
              <a:buChar char="•"/>
            </a:pP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Machine Learning model successfully predicts EV sales</a:t>
            </a:r>
            <a:endParaRPr lang="en-US"/>
          </a:p>
          <a:p>
            <a:pPr marL="342900" indent="-342900" algn="l">
              <a:buChar char="•"/>
            </a:pP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The project provides valuable insights for decision-makers</a:t>
            </a:r>
            <a:endParaRPr lang="en-US"/>
          </a:p>
          <a:p>
            <a:pPr algn="l"/>
            <a:endParaRPr lang="en-US" dirty="0">
              <a:solidFill>
                <a:schemeClr val="bg1"/>
              </a:solidFill>
            </a:endParaRPr>
          </a:p>
          <a:p>
            <a:pPr algn="l"/>
            <a:endParaRPr lang="en-US" dirty="0">
              <a:solidFill>
                <a:schemeClr val="bg1"/>
              </a:solidFill>
            </a:endParaRPr>
          </a:p>
          <a:p>
            <a:pPr algn="l"/>
            <a:endParaRPr lang="en-US" sz="2200" dirty="0">
              <a:solidFill>
                <a:srgbClr val="FFFFFF"/>
              </a:solidFill>
            </a:endParaRPr>
          </a:p>
          <a:p>
            <a:pPr algn="l"/>
            <a:endParaRPr lang="en-US" sz="2200" dirty="0">
              <a:solidFill>
                <a:srgbClr val="FFFFFF"/>
              </a:solidFill>
            </a:endParaRPr>
          </a:p>
          <a:p>
            <a:pPr algn="l"/>
            <a:endParaRPr lang="en-US" sz="2200" dirty="0">
              <a:solidFill>
                <a:srgbClr val="FFFFFF"/>
              </a:solidFill>
            </a:endParaRPr>
          </a:p>
          <a:p>
            <a:pPr marL="285750" indent="-285750" algn="l">
              <a:buFont typeface="Arial"/>
              <a:buChar char="•"/>
            </a:pPr>
            <a:endParaRPr lang="en-US" sz="2200" dirty="0">
              <a:solidFill>
                <a:srgbClr val="FFFFFF"/>
              </a:solidFill>
            </a:endParaRPr>
          </a:p>
          <a:p>
            <a:pPr marL="285750" indent="-285750" algn="l">
              <a:buFont typeface="Arial"/>
              <a:buChar char="•"/>
            </a:pPr>
            <a:endParaRPr lang="en-US" sz="2200" dirty="0">
              <a:solidFill>
                <a:srgbClr val="FFFFFF"/>
              </a:solidFill>
            </a:endParaRPr>
          </a:p>
          <a:p>
            <a:pPr algn="l"/>
            <a:endParaRPr lang="en-US" sz="2200">
              <a:solidFill>
                <a:srgbClr val="FFFFFF"/>
              </a:solidFill>
              <a:latin typeface="Aptos Narrow"/>
            </a:endParaRPr>
          </a:p>
          <a:p>
            <a:endParaRPr lang="en-US" sz="2200">
              <a:solidFill>
                <a:srgbClr val="FFFFFF"/>
              </a:solidFill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5673249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Electric Vehicle Sales by State in India</vt:lpstr>
      <vt:lpstr>Problem Statement </vt:lpstr>
      <vt:lpstr>Dataset Overview </vt:lpstr>
      <vt:lpstr>Data Cleaning &amp; Preprocessing </vt:lpstr>
      <vt:lpstr>Exploratory Data Analysis (EDA)</vt:lpstr>
      <vt:lpstr>Year-wise EV Sales Trend</vt:lpstr>
      <vt:lpstr>Monthly Sales Trend</vt:lpstr>
      <vt:lpstr>State-wise EV Sales</vt:lpstr>
      <vt:lpstr>Vehicle Category Analysis</vt:lpstr>
      <vt:lpstr>EDA – Key Insights</vt:lpstr>
      <vt:lpstr>Machine Learning Model</vt:lpstr>
      <vt:lpstr>Model Training &amp; Evaluation</vt:lpstr>
      <vt:lpstr>Model Evaluation </vt:lpstr>
      <vt:lpstr>Model Evaluation </vt:lpstr>
      <vt:lpstr>Results &amp; Insights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151</cp:revision>
  <dcterms:created xsi:type="dcterms:W3CDTF">2025-12-30T12:42:33Z</dcterms:created>
  <dcterms:modified xsi:type="dcterms:W3CDTF">2025-12-30T16:48:03Z</dcterms:modified>
</cp:coreProperties>
</file>